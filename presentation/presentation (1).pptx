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 panose="020B0604020202020204"/>
              </a:defRPr>
            </a:pPr>
            <a:r>
              <a:t>生成式人工智能（AIGC）</a:t>
            </a:r>
            <a:br/>
            <a:r>
              <a:t>在人文社科领域的文献计量分析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14600"/>
            <a:ext cx="3200400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8F98"/>
                </a:solidFill>
                <a:latin typeface="Arial" panose="020B0604020202020204"/>
              </a:defRPr>
            </a:pPr>
            <a:r>
              <a:t>A Bibliometric Analysis of Generative AI in Humanities and 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研究现状 · 热点演化 · 前沿趋势  |  2015-2026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39496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6235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2E"/>
                </a:solidFill>
                <a:latin typeface="Arial" panose="020B0604020202020204"/>
              </a:defRPr>
            </a:pPr>
            <a:r>
              <a:t>项目团队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董恒清（组长）  温明辉  杨永康  马子雄  职明东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2E"/>
                </a:solidFill>
                <a:latin typeface="Arial" panose="020B0604020202020204"/>
              </a:defRPr>
            </a:pPr>
            <a:r>
              <a:t>《文献计量学》课程期末项目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943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2026年6月  |  Week 1</a:t>
            </a:r>
            <a:r>
              <a:rPr lang="en-US"/>
              <a:t>5&amp;16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Research Questions &amp; Figure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12064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97280" cy="4572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5564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A6EBF"/>
                </a:solidFill>
                <a:latin typeface="Arial" panose="020B0604020202020204"/>
              </a:defRPr>
            </a:pPr>
            <a:r>
              <a:t>发文趋势与增长模式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Arial" panose="020B0604020202020204"/>
              </a:defRPr>
            </a:pPr>
            <a:r>
              <a:t>2015-2026年间，AIGC在人文社科领域</a:t>
            </a:r>
            <a:br/>
            <a:r>
              <a:t>的研究呈现怎样的发文趋势？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3A6EBF"/>
                </a:solidFill>
                <a:latin typeface="Arial" panose="020B0604020202020204"/>
              </a:defRPr>
            </a:pPr>
            <a: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Fig.1 年度发文趋势图</a:t>
            </a:r>
            <a:br/>
            <a:r>
              <a:t>→ Results §3.1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12064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737360"/>
            <a:ext cx="1097280" cy="4572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6479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5564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8445"/>
                </a:solidFill>
                <a:latin typeface="Arial" panose="020B0604020202020204"/>
              </a:defRPr>
            </a:pPr>
            <a:r>
              <a:t>合作网络与核心力量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Arial" panose="020B0604020202020204"/>
              </a:defRPr>
            </a:pPr>
            <a:r>
              <a:t>机构合作网络呈现怎样的结构？</a:t>
            </a:r>
            <a:br/>
            <a:r>
              <a:t>哪些机构和学者是核心研究力量？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1E8445"/>
                </a:solidFill>
                <a:latin typeface="Arial" panose="020B0604020202020204"/>
              </a:defRPr>
            </a:pPr>
            <a:r>
              <a:t>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Fig.2 机构合作网络</a:t>
            </a:r>
            <a:br/>
            <a:r>
              <a:t>→ Results §3.3, §3.5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512064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1737360"/>
            <a:ext cx="1097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76479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RQ3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75564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0392B"/>
                </a:solidFill>
                <a:latin typeface="Arial" panose="020B0604020202020204"/>
              </a:defRPr>
            </a:pPr>
            <a:r>
              <a:t>研究热点与前沿趋势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Arial" panose="020B0604020202020204"/>
              </a:defRPr>
            </a:pPr>
            <a:r>
              <a:t>研究热点、知识基础和前沿趋势</a:t>
            </a:r>
            <a:br/>
            <a:r>
              <a:t>是什么？经历了怎样的演化？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4903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C0392B"/>
                </a:solidFill>
                <a:latin typeface="Arial" panose="020B0604020202020204"/>
              </a:defRPr>
            </a:pPr>
            <a:r>
              <a:t>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062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Fig.3 关键词共现 + Table 1</a:t>
            </a:r>
            <a:br/>
            <a:r>
              <a:t>→ Results §3.6-3.7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64922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RQ设计逻辑：宏观描述（RQ1）→ 中观网络（RQ2）→ 微观演化与前沿（RQ3）—— 逐层递进，形成完整分析链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2 / 10</a:t>
            </a:r>
          </a:p>
        </p:txBody>
      </p:sp>
      <p:pic>
        <p:nvPicPr>
          <p:cNvPr id="33" name="图片 32" descr="cocitation_netwo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512185"/>
            <a:ext cx="3562350" cy="1986280"/>
          </a:xfrm>
          <a:prstGeom prst="rect">
            <a:avLst/>
          </a:prstGeom>
        </p:spPr>
      </p:pic>
      <p:pic>
        <p:nvPicPr>
          <p:cNvPr id="34" name="图片 33" descr="institution_colla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080" y="3509645"/>
            <a:ext cx="3541395" cy="1975485"/>
          </a:xfrm>
          <a:prstGeom prst="rect">
            <a:avLst/>
          </a:prstGeom>
        </p:spPr>
      </p:pic>
      <p:pic>
        <p:nvPicPr>
          <p:cNvPr id="35" name="图片 34" descr="keyword_cooccurr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09645"/>
            <a:ext cx="35661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Methods Overview — 从数据采集到可视化分析的10步流程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078992" cy="155448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① 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WoS Core</a:t>
            </a:r>
            <a:br/>
            <a: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2" y="1371600"/>
            <a:ext cx="1078992" cy="155448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② 检索策略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v3.0</a:t>
            </a:r>
            <a:br/>
            <a:r>
              <a:t>Query as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371600"/>
            <a:ext cx="1078992" cy="15544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3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③ 时间范围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2015-2026</a:t>
            </a:r>
            <a:br/>
            <a:r>
              <a:t>(11年)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5" y="1371600"/>
            <a:ext cx="10789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5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④ 纳入/排除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5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Article &amp;</a:t>
            </a:r>
            <a:br/>
            <a:r>
              <a:t>Review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1371600"/>
            <a:ext cx="1078992" cy="1554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⑤ PRISMA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1768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1,001→837</a:t>
            </a:r>
            <a:br/>
            <a:r>
              <a:t>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71600"/>
            <a:ext cx="1078992" cy="155448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⑥ 数据导出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Full Record</a:t>
            </a:r>
            <a:br/>
            <a:r>
              <a:t>+ Cited Ref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1371600"/>
            <a:ext cx="1078992" cy="155448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⑦ 分析工具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1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CiteSpace</a:t>
            </a:r>
            <a:br/>
            <a:r>
              <a:t>6.4.2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1371600"/>
            <a:ext cx="1078992" cy="15544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⑧ 参数设置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g-index</a:t>
            </a:r>
            <a:br/>
            <a:r>
              <a:t>Pathfinder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37776" y="1371600"/>
            <a:ext cx="10789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3496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⑨ 分析维度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7项分析</a:t>
            </a:r>
            <a:br/>
            <a:r>
              <a:t>(31+7)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08208" y="1371600"/>
            <a:ext cx="1078992" cy="15544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53928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⑩ 可复现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53928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GitHub</a:t>
            </a:r>
            <a:br/>
            <a:r>
              <a:t>README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291840"/>
            <a:ext cx="2651760" cy="54864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数据库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A6EBF"/>
                </a:solidFill>
                <a:latin typeface="Arial" panose="020B0604020202020204"/>
              </a:defRPr>
            </a:pPr>
            <a:r>
              <a:t>WoS Core</a:t>
            </a:r>
            <a:br/>
            <a:r>
              <a:t>Collection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83280" y="3291840"/>
            <a:ext cx="2651760" cy="54864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最终文献量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8445"/>
                </a:solidFill>
                <a:latin typeface="Arial" panose="020B0604020202020204"/>
              </a:defRPr>
            </a:pPr>
            <a:r>
              <a:t>837 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60" y="3291840"/>
            <a:ext cx="2651760" cy="54864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时间跨度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7E2C"/>
                </a:solidFill>
                <a:latin typeface="Arial" panose="020B0604020202020204"/>
              </a:defRPr>
            </a:pPr>
            <a:r>
              <a:t>2015-2026</a:t>
            </a:r>
            <a:br/>
            <a:r>
              <a:t>(11年)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291840"/>
            <a:ext cx="26517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分析工具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C0392B"/>
                </a:solidFill>
                <a:latin typeface="Arial" panose="020B0604020202020204"/>
              </a:defRPr>
            </a:pPr>
            <a:r>
              <a:t>CiteSpace 6.4.2</a:t>
            </a:r>
            <a:br/>
            <a:r>
              <a:t>+ Python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423"/>
                </a:solidFill>
                <a:latin typeface="Arial" panose="020B0604020202020204"/>
              </a:defRPr>
            </a:pPr>
            <a:r>
              <a:t>三种网络图谱指标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212080"/>
            <a:ext cx="356616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257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A6EBF"/>
                </a:solidFill>
                <a:latin typeface="Arial" panose="020B0604020202020204"/>
              </a:defRPr>
            </a:pPr>
            <a:r>
              <a:t>关键词共现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251节点 / 269边 / 密度0.00866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0" y="5212080"/>
            <a:ext cx="356616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60" y="5257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8445"/>
                </a:solidFill>
                <a:latin typeface="Arial" panose="020B0604020202020204"/>
              </a:defRPr>
            </a:pPr>
            <a:r>
              <a:t>机构合作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187节点 / 213边 / 密度0.0122 / 76分量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5212080"/>
            <a:ext cx="356616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5257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0392B"/>
                </a:solidFill>
                <a:latin typeface="Arial" panose="020B0604020202020204"/>
              </a:defRPr>
            </a:pPr>
            <a:r>
              <a:t>参考文献共被引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224节点 / 317边 / 密度0.0127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仓库: github.com/dhq2006/bibliometrics-project-new-  |  Release v1.0  |  Query as Code · 可复现分析 · 参数文档完备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文献计量结果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年度发文趋势与机构合作网络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74320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A6EBF"/>
                </a:solidFill>
                <a:latin typeface="Arial" panose="020B0604020202020204"/>
              </a:defRPr>
            </a:pPr>
            <a:r>
              <a:t>Fig.1  三阶段演化与年度发文趋势</a:t>
            </a: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457200" y="4572000"/>
            <a:ext cx="173736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457200" y="4572000"/>
            <a:ext cx="1737360" cy="4572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548640" y="466344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A6EBF"/>
                </a:solidFill>
                <a:latin typeface="Arial" panose="020B0604020202020204"/>
              </a:defRPr>
            </a:pPr>
            <a:r>
              <a:t>技术萌芽期</a:t>
            </a:r>
          </a:p>
          <a:p>
            <a:pPr algn="ctr">
              <a:defRPr sz="1100" b="1">
                <a:solidFill>
                  <a:srgbClr val="3A6EBF"/>
                </a:solidFill>
                <a:latin typeface="Arial" panose="020B0604020202020204"/>
              </a:defRPr>
            </a:pPr>
            <a:r>
              <a:t>2015-2018</a:t>
            </a:r>
            <a:br/>
            <a:endParaRPr lang="en-US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548640" y="52120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年均 &lt;10篇</a:t>
            </a:r>
            <a:br/>
            <a:r>
              <a:t>GAN/VAE探索</a:t>
            </a:r>
          </a:p>
        </p:txBody>
      </p:sp>
      <p:sp>
        <p:nvSpPr>
          <p:cNvPr id="13" name="Rectangle 12"/>
          <p:cNvSpPr/>
          <p:nvPr>
            <p:custDataLst>
              <p:tags r:id="rId5"/>
            </p:custDataLst>
          </p:nvPr>
        </p:nvSpPr>
        <p:spPr>
          <a:xfrm>
            <a:off x="2377440" y="4572000"/>
            <a:ext cx="173736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2377440" y="4572000"/>
            <a:ext cx="1737360" cy="4572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2468880" y="466344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7E2C"/>
                </a:solidFill>
                <a:latin typeface="Arial" panose="020B0604020202020204"/>
              </a:defRPr>
            </a:pPr>
            <a:r>
              <a:t>缓慢发展期</a:t>
            </a:r>
          </a:p>
          <a:p>
            <a:pPr algn="ctr">
              <a:defRPr sz="1100" b="1">
                <a:solidFill>
                  <a:srgbClr val="D47E2C"/>
                </a:solidFill>
                <a:latin typeface="Arial" panose="020B0604020202020204"/>
              </a:defRPr>
            </a:pPr>
            <a:r>
              <a:t>2019-2021</a:t>
            </a:r>
            <a:br/>
            <a:endParaRPr lang="en-US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468880" y="52120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发文量稳步增长
文本生成+机器翻译</a:t>
            </a:r>
            <a:br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4297680" y="4572000"/>
            <a:ext cx="173736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4297680" y="4572000"/>
            <a:ext cx="173736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4389120" y="466344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C0392B"/>
                </a:solidFill>
                <a:latin typeface="Arial" panose="020B0604020202020204"/>
              </a:defRPr>
            </a:pPr>
            <a:r>
              <a:t>爆发增长期</a:t>
            </a:r>
          </a:p>
          <a:p>
            <a:pPr algn="ctr">
              <a:defRPr sz="1100" b="1">
                <a:solidFill>
                  <a:srgbClr val="C0392B"/>
                </a:solidFill>
                <a:latin typeface="Arial" panose="020B0604020202020204"/>
              </a:defRPr>
            </a:pPr>
            <a:r>
              <a:t>2022-2026</a:t>
            </a:r>
            <a:br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4389120" y="52120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同比增长 &gt;300%</a:t>
            </a:r>
            <a:br/>
            <a:r>
              <a:t>ChatGPT驱动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5669280" cy="2743200"/>
          </a:xfrm>
          <a:prstGeom prst="rect">
            <a:avLst/>
          </a:prstGeom>
          <a:solidFill>
            <a:srgbClr val="F0F2F5"/>
          </a:solidFill>
          <a:ln w="1270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instituti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417320"/>
            <a:ext cx="5303520" cy="2468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17920" y="411480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E8445"/>
                </a:solidFill>
                <a:latin typeface="Arial" panose="020B0604020202020204"/>
              </a:defRPr>
            </a:pPr>
            <a:r>
              <a:t>Fig.2  Top10核心机构发文量及国家分布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2743200" cy="128016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🔴  中国机构全球领先：Top10中占4席（40%）</a:t>
            </a:r>
            <a:br/>
            <a:r>
              <a:t>香港大学16篇位居全球第1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572000"/>
            <a:ext cx="2743200" cy="128016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6634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🟡  澳大利亚3所入榜，美国2所</a:t>
            </a:r>
            <a:br/>
            <a:r>
              <a:t>形成亚太-北美-大洋洲三极格局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144768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关键洞察：中国机构在"量"（发文量4席Top10）与"质"（中心性并列全球第1）两个维度均处于全球领先  |  但网络整体较松散（76个连通分量），国际合作有待加强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4 / 10</a:t>
            </a:r>
          </a:p>
        </p:txBody>
      </p:sp>
      <p:pic>
        <p:nvPicPr>
          <p:cNvPr id="31" name="图片 30" descr="annual_tren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1379855"/>
            <a:ext cx="5301615" cy="2633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文献计量结果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关键词共现分析与知识基础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926080"/>
          </a:xfrm>
          <a:prstGeom prst="rect">
            <a:avLst/>
          </a:prstGeom>
          <a:solidFill>
            <a:srgbClr val="F0F2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keyword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0352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29768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C0392B"/>
                </a:solidFill>
                <a:latin typeface="Arial" panose="020B0604020202020204"/>
              </a:defRPr>
            </a:pPr>
            <a:r>
              <a:t>Fig.3  关键词频次（左）与中介中心性（右）Top10对比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F1423"/>
                </a:solidFill>
                <a:latin typeface="Arial" panose="020B0604020202020204"/>
              </a:defRPr>
            </a:pPr>
            <a:r>
              <a:t>核心发现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AI (251) + Generative AI (233) = 两大超级节点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79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"education"中心性0.51 → 唯一超0.5的核心枢纽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Higher Education (146) → 最热应用场景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80759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Academic Integrity (35) → 最受关注伦理议题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669280" cy="521208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F1423"/>
                </a:solidFill>
                <a:latin typeface="Arial" panose="020B0604020202020204"/>
              </a:defRPr>
            </a:pPr>
            <a:r>
              <a:t>Table 1  Top10核心指标综合汇总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11887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920240"/>
            <a:ext cx="14173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96596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第1名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920240"/>
            <a:ext cx="14173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96596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第2名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0" y="1920240"/>
            <a:ext cx="14173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60" y="196596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第3名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33472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679191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机构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633472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67919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香港大学</a:t>
            </a:r>
            <a:br/>
            <a:r>
              <a:t>(16篇)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633472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267919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Arizona State</a:t>
            </a:r>
            <a:br/>
            <a:r>
              <a:t>(15篇)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2633472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267919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EdUHK</a:t>
            </a:r>
            <a:br/>
            <a:r>
              <a:t>(14篇)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346704"/>
            <a:ext cx="11887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392424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期刊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346704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392424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Educ &amp; Info Tech</a:t>
            </a:r>
            <a:br/>
            <a:r>
              <a:t>(55篇)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346704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3392424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Education Sci.</a:t>
            </a:r>
            <a:br/>
            <a:r>
              <a:t>(42篇)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64240" y="3346704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60" y="3392424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TechTrends</a:t>
            </a:r>
            <a:br/>
            <a:r>
              <a:t>(30篇)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059935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105655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作者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059935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4105655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Bozkurt, A</a:t>
            </a:r>
            <a:br/>
            <a:r>
              <a:t>(3篇)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4059935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4105655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Chan, CKY</a:t>
            </a:r>
            <a:br/>
            <a:r>
              <a:t>(3篇)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4059935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09960" y="4105655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Humble, N</a:t>
            </a:r>
            <a:br/>
            <a:r>
              <a:t>(2篇)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773168"/>
            <a:ext cx="11887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818888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关键词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4773168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4818888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AI</a:t>
            </a:r>
            <a:br/>
            <a:r>
              <a:t>(251次)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4773168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4818888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Generative AI</a:t>
            </a:r>
            <a:br/>
            <a:r>
              <a:t>(233次)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64240" y="4773168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09960" y="4818888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Higher Edu.</a:t>
            </a:r>
            <a:br/>
            <a:r>
              <a:t>(146次)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486400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532120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中心性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5486400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01000" y="553212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Education</a:t>
            </a:r>
            <a:br/>
            <a:r>
              <a:t>(0.51)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5486400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5480" y="553212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AI</a:t>
            </a:r>
            <a:br/>
            <a:r>
              <a:t>(0.45)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64240" y="5486400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09960" y="553212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Higher Edu.</a:t>
            </a:r>
            <a:br/>
            <a:r>
              <a:t>(0.25)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6199631"/>
            <a:ext cx="11887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6245351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高被引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79" y="6199631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624535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Kasneci 2023</a:t>
            </a:r>
            <a:br/>
            <a:r>
              <a:t>(146次)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09760" y="6199631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624535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Cotton 2024</a:t>
            </a:r>
            <a:br/>
            <a:r>
              <a:t>(107次)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064240" y="6199631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109960" y="624535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Jurgen 2023</a:t>
            </a:r>
            <a:br/>
            <a:r>
              <a:t>(104次)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309360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0">
                <a:solidFill>
                  <a:srgbClr val="8A8F98"/>
                </a:solidFill>
                <a:latin typeface="Arial" panose="020B0604020202020204"/>
              </a:defRPr>
            </a:pPr>
            <a:r>
              <a:t>关键发现：教育期刊垄断（Top10占9席）| 作者长尾分布（最高仅3篇）</a:t>
            </a:r>
            <a:br/>
            <a:r>
              <a:t>知识基础"超强时间集中性"——全部核心文献来自2023-2024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讨论：CER论证框架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Claim → Evidence（Top1） → Reasoning —— 数据驱动的三段论证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03320" cy="5303520"/>
          </a:xfrm>
          <a:prstGeom prst="rect">
            <a:avLst/>
          </a:prstGeom>
          <a:solidFill>
            <a:srgbClr val="F0F2F5"/>
          </a:solidFill>
          <a:ln w="190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03320" cy="4572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RQ1: 发文趋势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A6EBF"/>
                </a:solidFill>
                <a:latin typeface="Arial" panose="020B0604020202020204"/>
              </a:defRPr>
            </a:pPr>
            <a:r>
              <a:t>▎CLAIM  核心论断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Arial" panose="020B0604020202020204"/>
              </a:defRPr>
            </a:pPr>
            <a:r>
              <a:t>ChatGPT是触发AIGC人文社科</a:t>
            </a:r>
            <a:br/>
            <a:r>
              <a:t>研究爆发式增长的最关键转折点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5204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▎EVIDENCE  Top1最强证据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794760"/>
            <a:ext cx="342900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M1报告: 2023年发文量同比增长300%以上</a:t>
            </a:r>
            <a:br/>
          </a:p>
        </p:txBody>
      </p:sp>
      <p:sp>
        <p:nvSpPr>
          <p:cNvPr id="15" name="TextBox 14"/>
          <p:cNvSpPr txBox="1"/>
          <p:nvPr/>
        </p:nvSpPr>
        <p:spPr>
          <a:xfrm>
            <a:off x="1920240" y="47548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02920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44AD"/>
                </a:solidFill>
                <a:latin typeface="Arial" panose="020B0604020202020204"/>
              </a:defRPr>
            </a:pPr>
            <a:r>
              <a:t>▎REASONING  逻辑推理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303520"/>
            <a:ext cx="3429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技术进步（ChatGPT NLP革命）→</a:t>
            </a:r>
            <a:br/>
            <a:r>
              <a:t>降低使用门槛 → 社会关注+学术产出</a:t>
            </a:r>
            <a:br/>
            <a:r>
              <a:t>联动效应 → 与技术采用生命周期一致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280160"/>
            <a:ext cx="3703320" cy="5303520"/>
          </a:xfrm>
          <a:prstGeom prst="rect">
            <a:avLst/>
          </a:prstGeom>
          <a:solidFill>
            <a:srgbClr val="F0F2F5"/>
          </a:solidFill>
          <a:ln w="190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280160"/>
            <a:ext cx="3703320" cy="4572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RQ2: 核心力量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9202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8445"/>
                </a:solidFill>
                <a:latin typeface="Arial" panose="020B0604020202020204"/>
              </a:defRPr>
            </a:pPr>
            <a:r>
              <a:t>▎CLAIM  核心论断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194560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Arial" panose="020B0604020202020204"/>
              </a:defRPr>
            </a:pPr>
            <a:r>
              <a:t>中国已成为该领域全球领先的</a:t>
            </a:r>
            <a:br/>
            <a:r>
              <a:t>研究力量，量质双优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204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▎EVIDENCE  Top1最强证据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794760"/>
            <a:ext cx="342900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88620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Top10机构中国占4席（40%）</a:t>
            </a:r>
            <a:br/>
            <a:r>
              <a:t>中心性并列全球第1</a:t>
            </a:r>
            <a:br/>
            <a:r>
              <a:t>港大16篇位居全球榜首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7548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02920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44AD"/>
                </a:solidFill>
                <a:latin typeface="Arial" panose="020B0604020202020204"/>
              </a:defRPr>
            </a:pPr>
            <a:r>
              <a:t>▎REASONING  逻辑推理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303520"/>
            <a:ext cx="3429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政策支持（2017新一代AI规划）</a:t>
            </a:r>
            <a:br/>
            <a:r>
              <a:t>+ 庞大市场需求 + 香港国际化</a:t>
            </a:r>
            <a:br/>
            <a:r>
              <a:t>平台 → 三位一体战略优势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280160"/>
            <a:ext cx="3703320" cy="5303520"/>
          </a:xfrm>
          <a:prstGeom prst="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280160"/>
            <a:ext cx="37033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RQ3: 前沿趋势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19202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▎CLAIM  核心论断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194560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Arial" panose="020B0604020202020204"/>
              </a:defRPr>
            </a:pPr>
            <a:r>
              <a:t>研究正从"技术采纳"阶段</a:t>
            </a:r>
            <a:br/>
            <a:r>
              <a:t>转向"社会影响评估"阶段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5204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▎EVIDENCE  Top1最强证据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794760"/>
            <a:ext cx="342900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88620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education中心性0.51全网络最高</a:t>
            </a:r>
            <a:br/>
            <a:r>
              <a:t>academic integrity频次35</a:t>
            </a:r>
            <a:br/>
            <a:r>
              <a:t>+ 2026年最新突现词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7548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02920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44AD"/>
                </a:solidFill>
                <a:latin typeface="Arial" panose="020B0604020202020204"/>
              </a:defRPr>
            </a:pPr>
            <a:r>
              <a:t>▎REASONING  逻辑推理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303520"/>
            <a:ext cx="3429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符合STS技术采纳生命周期：</a:t>
            </a:r>
            <a:br/>
            <a:r>
              <a:t>技术推动→应用扩散→社会反思→</a:t>
            </a:r>
            <a:br/>
            <a:r>
              <a:t>规范治理（当前处于社会反思期）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研究发现 · 贡献 · 局限 · 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03320" cy="50292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主要发现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3703320" cy="4754880"/>
          </a:xfrm>
          <a:prstGeom prst="rect">
            <a:avLst/>
          </a:prstGeom>
          <a:solidFill>
            <a:srgbClr val="F0F2F5"/>
          </a:solidFill>
          <a:ln w="63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三阶段演化：萌芽(15-18)</a:t>
            </a:r>
            <a:br/>
            <a:r>
              <a:t>→ 发展(19-21) → 爆发(22-26)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ChatGPT是最关键转折点</a:t>
            </a:r>
            <a:br/>
            <a:r>
              <a:t>(2023年同比增长 &gt;300%)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中国机构全方位领先：</a:t>
            </a:r>
            <a:br/>
            <a:r>
              <a:t>发文量4席Top10 + 中心性并列第1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教育是绝对主导场景：</a:t>
            </a:r>
            <a:br/>
            <a:r>
              <a:t>"education"中心性0.51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知识基础"超强时间集中性"：</a:t>
            </a:r>
            <a:br/>
            <a:r>
              <a:t>所有核心文献来自2023-2024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80160"/>
            <a:ext cx="3703320" cy="50292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研究贡献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783080"/>
            <a:ext cx="3703320" cy="4754880"/>
          </a:xfrm>
          <a:prstGeom prst="rect">
            <a:avLst/>
          </a:prstGeom>
          <a:solidFill>
            <a:srgbClr val="F0F2F5"/>
          </a:solidFill>
          <a:ln w="63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96596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方法论：首次CiteSpace系统</a:t>
            </a:r>
            <a:br/>
            <a:r>
              <a:t>应用于AIGC人文社科交叉领域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92608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实证：837篇文献全景量化分析</a:t>
            </a:r>
            <a:br/>
            <a:r>
              <a:t>"31+7+7"分析框架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8620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实践：核心期刊列表/里程碑</a:t>
            </a:r>
            <a:br/>
            <a:r>
              <a:t>文献/突现前沿 ≡ 学术导航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4632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验证：文献计量学方法在新兴</a:t>
            </a:r>
            <a:br/>
            <a:r>
              <a:t>交叉领域的适用性和有效性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局限与展望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83080"/>
            <a:ext cx="3703320" cy="4754880"/>
          </a:xfrm>
          <a:prstGeom prst="rect">
            <a:avLst/>
          </a:prstGeom>
          <a:solidFill>
            <a:srgbClr val="F0F2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局限：仅WoS（缺Scopus/CNKI）</a:t>
            </a:r>
            <a:br/>
            <a:r>
              <a:t>免费版节点限制 | 时效性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2608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未来 → 多数据库交叉验证</a:t>
            </a:r>
            <a:br/>
            <a:r>
              <a:t>纳入中文文献分析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8620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未来 → 时序追踪(2026年后)</a:t>
            </a:r>
            <a:br/>
            <a:r>
              <a:t>验证"超强集中性"演化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4632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未来 → 质性内容分析整合</a:t>
            </a:r>
            <a:br/>
            <a:r>
              <a:t>非教育领域(文学/历史/哲学)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GitHub 仓库结构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来源: github.com/dhq2006/bibliometrics-project-new-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6EBF"/>
                </a:solidFill>
                <a:latin typeface="Arial" panose="020B0604020202020204"/>
              </a:defRPr>
            </a:pPr>
            <a:r>
              <a:t>github.com/dhq2006/bibliometrics-project-new-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54864" cy="13716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6EBF"/>
                </a:solidFill>
                <a:latin typeface="Arial" panose="020B0604020202020204"/>
              </a:defRPr>
            </a:pPr>
            <a:r>
              <a:t>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raw/ (原始WoS数据)</a:t>
            </a:r>
            <a:br/>
            <a:r>
              <a:t>processed/ (清洗后数据)</a:t>
            </a:r>
            <a:br/>
            <a:r>
              <a:t>README.md + field_dictionary.md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9164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691640"/>
            <a:ext cx="54864" cy="13716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647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445"/>
                </a:solidFill>
                <a:latin typeface="Arial" panose="020B0604020202020204"/>
              </a:defRPr>
            </a:pPr>
            <a:r>
              <a:t>src/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clean_data.py + parse_wos.py</a:t>
            </a:r>
            <a:br/>
            <a:r>
              <a:t>convert_to_citespace.py</a:t>
            </a:r>
            <a:br/>
            <a:r>
              <a:t>generate_m1/m2_report.py</a:t>
            </a:r>
            <a:br/>
            <a:r>
              <a:t>networks/ (co_citation + collaboration)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54864" cy="137160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647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7E2C"/>
                </a:solidFill>
                <a:latin typeface="Arial" panose="020B0604020202020204"/>
              </a:defRPr>
            </a:pPr>
            <a:r>
              <a:t>config/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query.yaml (Query as Code v3.0)</a:t>
            </a:r>
            <a:br/>
            <a:r>
              <a:t>query_changelog.md (v1→v3迭代)</a:t>
            </a:r>
            <a:br/>
            <a:r>
              <a:t>synonyms.yaml (同义词合并)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735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Arial" panose="020B0604020202020204"/>
              </a:defRPr>
            </a:pPr>
            <a:r>
              <a:t>outputs/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1188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figures/ (4张CiteSpace图谱PNG)</a:t>
            </a:r>
            <a:br/>
            <a:r>
              <a:t>tables/ (top10_*.csv x 4)</a:t>
            </a:r>
            <a:br/>
            <a:r>
              <a:t>31全部图表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20040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200400"/>
            <a:ext cx="54864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2735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Arial" panose="020B0604020202020204"/>
              </a:defRPr>
            </a:pPr>
            <a:r>
              <a:t>reports/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61188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milestone1_report.md</a:t>
            </a:r>
            <a:br/>
            <a:r>
              <a:t>milestone2_report.md</a:t>
            </a:r>
            <a:br/>
            <a:r>
              <a:t>citespace_params.md</a:t>
            </a:r>
            <a:br/>
            <a:r>
              <a:t>data_quality.md (6个文件)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20040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200400"/>
            <a:ext cx="54864" cy="13716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2735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6EBF"/>
                </a:solidFill>
                <a:latin typeface="Arial" panose="020B0604020202020204"/>
              </a:defRPr>
            </a:pPr>
            <a:r>
              <a:t>paper/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61188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final_paper.md (课程论文)</a:t>
            </a:r>
            <a:br/>
            <a:r>
              <a:t>references.bib.bib (参考文献库)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709160"/>
            <a:ext cx="54864" cy="13716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8231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445"/>
                </a:solidFill>
                <a:latin typeface="Arial" panose="020B0604020202020204"/>
              </a:defRPr>
            </a:pPr>
            <a:r>
              <a:t>presentation/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presentation.pptx</a:t>
            </a:r>
            <a:br/>
            <a:r>
              <a:t>presentation.pdf (PDF备份)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70916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4709160"/>
            <a:ext cx="54864" cy="137160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78231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7E2C"/>
                </a:solidFill>
                <a:latin typeface="Arial" panose="020B0604020202020204"/>
              </a:defRPr>
            </a:pPr>
            <a:r>
              <a:t>reflection/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12064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team_division.md (小组分工)</a:t>
            </a:r>
            <a:br/>
            <a:r>
              <a:t>personal_reflection_*.md</a:t>
            </a:r>
            <a:br/>
            <a:r>
              <a:t>(5人个人反思 x 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709160"/>
            <a:ext cx="3703320" cy="1371600"/>
          </a:xfrm>
          <a:prstGeom prst="rect">
            <a:avLst/>
          </a:prstGeom>
          <a:solidFill>
            <a:srgbClr val="F2F4F7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47091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78231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Arial" panose="020B0604020202020204"/>
              </a:defRPr>
            </a:pPr>
            <a:r>
              <a:t>根目录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120640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README.md (项目总览)</a:t>
            </a:r>
            <a:br/>
            <a:r>
              <a:t>requirements.txt (Python依赖)</a:t>
            </a:r>
            <a:br/>
            <a:r>
              <a:t>prisma_flow.png (PRISMA流程图)</a:t>
            </a:r>
            <a:br/>
            <a:r>
              <a:t>.gitignore + LICENSE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276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Query as Code · 可复现分析 · 参数文档完备 · PRISMA 2020 · 837篇文献 · 9目录 + 根文件完整结构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F98"/>
                </a:solidFill>
                <a:latin typeface="Arial" panose="020B0604020202020204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rPr lang="zh-CN"/>
              <a:t>分工与完成度</a:t>
            </a:r>
            <a:r>
              <a:rPr lang="zh-CN"/>
              <a:t>亮点</a:t>
            </a:r>
            <a:endParaRPr lang="zh-CN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Team Division — 组长统筹 + 模块负责制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423"/>
                </a:solidFill>
                <a:latin typeface="Arial" panose="020B0604020202020204"/>
              </a:defRPr>
            </a:pPr>
            <a:r>
              <a:t>团队成员分工 (来源: reflection/team_division.md)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7772400" cy="868680"/>
          </a:xfrm>
          <a:prstGeom prst="rect">
            <a:avLst/>
          </a:prstGeom>
          <a:solidFill>
            <a:srgbClr val="F2F4F7"/>
          </a:solidFill>
          <a:ln w="1016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54864" cy="86868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6EBF"/>
                </a:solidFill>
                <a:latin typeface="Arial" panose="020B0604020202020204"/>
              </a:defRPr>
            </a:pPr>
            <a:r>
              <a:t>董恒清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691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Arial" panose="020B0604020202020204"/>
              </a:defRPr>
            </a:pPr>
            <a:r>
              <a:t>项目组长 — 全局统筹与质量把控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牵头确定研究方向与目标，划分3个里程碑阶段并制定时间节点与分工表；每周固定会议跟踪进度、协调跨模块协作（数据清洗标准统一、图谱解读分歧等）；全文审核与CER逻辑校验，统筹GitHub仓库文件架构与归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7772400" cy="868680"/>
          </a:xfrm>
          <a:prstGeom prst="rect">
            <a:avLst/>
          </a:prstGeom>
          <a:solidFill>
            <a:srgbClr val="F2F4F7"/>
          </a:solidFill>
          <a:ln w="1016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54864" cy="8686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445"/>
                </a:solidFill>
                <a:latin typeface="Arial" panose="020B0604020202020204"/>
              </a:defRPr>
            </a:pPr>
            <a:r>
              <a:t>温明辉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51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Arial" panose="020B0604020202020204"/>
              </a:defRPr>
            </a:pPr>
            <a:r>
              <a:t>数据模块负责人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围绕核心问题开展3次预检索迭代优化，确定涵盖生成式AI技术词、应用领域、排除词三维度的精准检索策略；从WoS核心合集导出原始数据1001篇；使用Python Pandas编写自动化清洗脚本，去重并标准化处理后输出837篇标准化数据集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7772400" cy="868680"/>
          </a:xfrm>
          <a:prstGeom prst="rect">
            <a:avLst/>
          </a:prstGeom>
          <a:solidFill>
            <a:srgbClr val="F2F4F7"/>
          </a:solidFill>
          <a:ln w="1016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54864" cy="86868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11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7E2C"/>
                </a:solidFill>
                <a:latin typeface="Arial" panose="020B0604020202020204"/>
              </a:defRPr>
            </a:pPr>
            <a:r>
              <a:t>杨永康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6118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Arial" panose="020B0604020202020204"/>
              </a:defRPr>
            </a:pPr>
            <a:r>
              <a:t>筛选模块负责人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严格遵循PRISMA 2020标准，制定去重-标题摘要-全文精读三阶段筛选流程；全程记录各阶段剔除文献数量与原因，绘制标准化PRISMA流程图，形成完整系统评价报告；系统梳理研究空白为论文提供论证基础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7772400" cy="868680"/>
          </a:xfrm>
          <a:prstGeom prst="rect">
            <a:avLst/>
          </a:prstGeom>
          <a:solidFill>
            <a:srgbClr val="F2F4F7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526280"/>
            <a:ext cx="54864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Arial" panose="020B0604020202020204"/>
              </a:defRPr>
            </a:pPr>
            <a:r>
              <a:t>马子雄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572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Arial" panose="020B0604020202020204"/>
              </a:defRPr>
            </a:pPr>
            <a:r>
              <a:t>质量模块负责人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46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建立完整性-准确性-一致性三维评估体系，统计字段缺失率（DE字段5.85%）与异常值分布；制定统一清洗规则与8组关键词同义词合并策略；构建图数据模型，基于CiteSpace指标校验网络结构与异常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86400"/>
            <a:ext cx="7772400" cy="868680"/>
          </a:xfrm>
          <a:prstGeom prst="rect">
            <a:avLst/>
          </a:prstGeom>
          <a:solidFill>
            <a:srgbClr val="F2F4F7"/>
          </a:solidFill>
          <a:ln w="1016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486400"/>
            <a:ext cx="54864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Arial" panose="020B0604020202020204"/>
              </a:defRPr>
            </a:pPr>
            <a:r>
              <a:t>职明东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532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Arial" panose="020B0604020202020204"/>
              </a:defRPr>
            </a:pPr>
            <a:r>
              <a:t>成果模块负责人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06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确定节点中心性、网络密度、关键词突现强度等核心指标定义与计算方法；使用CiteSpace 6.4.2生成关键词共现(251节点)、机构合作(187节点)、共被引(224节点)三张图谱；负责论文Abstract至Conclusion五章撰写与学术汇报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rial" panose="020B0604020202020204"/>
              </a:defRPr>
            </a:pPr>
            <a:r>
              <a:t>项目管理模式: 组长统筹 + 模块负责制  |  三阶段里程碑: M1(数据准备) - M2(计量分析) - M3(成果整合)  |  来源: reflection/team_division.md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423"/>
                </a:solidFill>
                <a:latin typeface="Arial" panose="020B0604020202020204"/>
              </a:defRPr>
            </a:pPr>
            <a:r>
              <a:t>项目完成度亮点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1645920"/>
            <a:ext cx="3474720" cy="749808"/>
          </a:xfrm>
          <a:prstGeom prst="rect">
            <a:avLst/>
          </a:prstGeom>
          <a:solidFill>
            <a:srgbClr val="F2F4F7"/>
          </a:solidFill>
          <a:ln w="1016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1645920"/>
            <a:ext cx="54864" cy="749808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1700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8445"/>
                </a:solidFill>
                <a:latin typeface="Arial" panose="020B0604020202020204"/>
              </a:defRPr>
            </a:pPr>
            <a:r>
              <a:t>检索策略迭代优化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19659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3次预检索迭代 (v1.0-v3.0)，检索相关性94% (见 query_rationale.md)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2468880"/>
            <a:ext cx="3474720" cy="749808"/>
          </a:xfrm>
          <a:prstGeom prst="rect">
            <a:avLst/>
          </a:prstGeom>
          <a:solidFill>
            <a:srgbClr val="F2F4F7"/>
          </a:solidFill>
          <a:ln w="1016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2468880"/>
            <a:ext cx="54864" cy="749808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252374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A6EBF"/>
                </a:solidFill>
                <a:latin typeface="Arial" panose="020B0604020202020204"/>
              </a:defRPr>
            </a:pPr>
            <a:r>
              <a:t>数据质量高标准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80" y="27889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PRISMA 2020标准筛选，数据完整性98.1%，准确性99.5% (见 data_quality.md)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291840"/>
            <a:ext cx="3474720" cy="749808"/>
          </a:xfrm>
          <a:prstGeom prst="rect">
            <a:avLst/>
          </a:prstGeom>
          <a:solidFill>
            <a:srgbClr val="F2F4F7"/>
          </a:solidFill>
          <a:ln w="1016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3291840"/>
            <a:ext cx="54864" cy="749808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334670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7E2C"/>
                </a:solidFill>
                <a:latin typeface="Arial" panose="020B0604020202020204"/>
              </a:defRPr>
            </a:pPr>
            <a:r>
              <a:t>参数系统记录完备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36118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三图谱g-index参数(k=24/20/25)适配免费版300节点限制 (见 citespace_params.md)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4114800"/>
            <a:ext cx="3474720" cy="749808"/>
          </a:xfrm>
          <a:prstGeom prst="rect">
            <a:avLst/>
          </a:prstGeom>
          <a:solidFill>
            <a:srgbClr val="F2F4F7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12480" y="4114800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4169663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 panose="020B0604020202020204"/>
              </a:defRPr>
            </a:pPr>
            <a:r>
              <a:t>可复现性设计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44348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Query as Code (query.yaml) + requirements.txt + 清洗代码 (src/clean_data.py) + 参数文档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4937760"/>
            <a:ext cx="3474720" cy="749808"/>
          </a:xfrm>
          <a:prstGeom prst="rect">
            <a:avLst/>
          </a:prstGeom>
          <a:solidFill>
            <a:srgbClr val="F2F4F7"/>
          </a:solidFill>
          <a:ln w="1016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12480" y="4937760"/>
            <a:ext cx="54864" cy="7498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1080" y="49926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Arial" panose="020B0604020202020204"/>
              </a:defRPr>
            </a:pPr>
            <a:r>
              <a:t>图谱分析全面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1080" y="52578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关键词共现(251节点) + 机构合作(187节点) + 共被引(224节点) 三种图谱 (见 M2报告)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2480" y="5760720"/>
            <a:ext cx="3474720" cy="749808"/>
          </a:xfrm>
          <a:prstGeom prst="rect">
            <a:avLst/>
          </a:prstGeom>
          <a:solidFill>
            <a:srgbClr val="F2F4F7"/>
          </a:solidFill>
          <a:ln w="1016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12480" y="5760720"/>
            <a:ext cx="54864" cy="749808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41080" y="5815583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8445"/>
                </a:solidFill>
                <a:latin typeface="Arial" panose="020B0604020202020204"/>
              </a:defRPr>
            </a:pPr>
            <a:r>
              <a:t>三阶段完整交付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1080" y="608075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1A2E"/>
                </a:solidFill>
                <a:latin typeface="Arial" panose="020B0604020202020204"/>
              </a:defRPr>
            </a:pPr>
            <a:r>
              <a:t>M1(数据准备) - M2(计量分析) - M3(成果整合)，每阶段有里程碑报告 (见 reports/)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Arial" panose="020B0604020202020204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8A8F98"/>
                </a:solidFill>
                <a:latin typeface="Arial" panose="020B0604020202020204"/>
              </a:defRPr>
            </a:pPr>
            <a:r>
              <a:t>Thank You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生成式人工智能（AIGC）在人文社科领域的文献计量分析（2015-2026）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董恒清 · 温明辉 · 杨永康 · 马子雄 · 职明东  |  《文献计量学》课程  |  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05560"/>
                </a:solidFill>
                <a:latin typeface="Arial" panose="020B0604020202020204"/>
              </a:defRPr>
            </a:pPr>
            <a:r>
              <a:t>github.com/dhq2006/bibliometrics-project-new-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2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3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4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5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6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7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8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9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10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11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12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5331</Words>
  <Application>WPS 演示</Application>
  <PresentationFormat>On-screen Show (4:3)</PresentationFormat>
  <Paragraphs>479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温明辉0312</cp:lastModifiedBy>
  <cp:revision>8</cp:revision>
  <dcterms:created xsi:type="dcterms:W3CDTF">2013-01-27T09:14:00Z</dcterms:created>
  <dcterms:modified xsi:type="dcterms:W3CDTF">2026-06-11T10:27:29Z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F79CFE99C46545A7BA84DDC8DE49E292_12</vt:lpwstr>
  </property>
  <property fmtid="{D5CDD505-2E9C-101B-9397-08002B2CF9AE}" pid="3" name="KSOProductBuildVer">
    <vt:lpwstr>2052-12.1.0.26895</vt:lpwstr>
  </property>
</Properties>
</file>