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 panose="020B0604020202020204"/>
              </a:defRPr>
            </a:pPr>
            <a:r>
              <a:t>生成式人工智能（AIGC）</a:t>
            </a:r>
            <a:br/>
            <a:r>
              <a:t>在人文社科领域的文献计量分析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14600"/>
            <a:ext cx="3200400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8F98"/>
                </a:solidFill>
                <a:latin typeface="Arial" panose="020B0604020202020204"/>
              </a:defRPr>
            </a:pPr>
            <a:r>
              <a:t>A Bibliometric Analysis of Generative AI in Humanities and Social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研究现状 · 热点演化 · 前沿趋势  |  2015-2026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39496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6235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2E"/>
                </a:solidFill>
                <a:latin typeface="Arial" panose="020B0604020202020204"/>
              </a:defRPr>
            </a:pPr>
            <a:r>
              <a:t>项目团队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董恒清（组长）  温明辉  杨永康  马子雄  职明东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623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2E"/>
                </a:solidFill>
                <a:latin typeface="Arial" panose="020B0604020202020204"/>
              </a:defRPr>
            </a:pPr>
            <a:r>
              <a:t>《文献计量学》课程期末项目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943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Arial" panose="020B0604020202020204"/>
              </a:defRPr>
            </a:pPr>
            <a:r>
              <a:t>2026年6月  |  Week 1</a:t>
            </a:r>
            <a:r>
              <a:rPr lang="en-US"/>
              <a:t>5&amp;16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Research Questions &amp; Figure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12064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97280" cy="4572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5564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A6EBF"/>
                </a:solidFill>
                <a:latin typeface="Arial" panose="020B0604020202020204"/>
              </a:defRPr>
            </a:pPr>
            <a:r>
              <a:t>发文趋势与增长模式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Arial" panose="020B0604020202020204"/>
              </a:defRPr>
            </a:pPr>
            <a:r>
              <a:t>2015-2026年间，AIGC在人文社科领域</a:t>
            </a:r>
            <a:br/>
            <a:r>
              <a:t>的研究呈现怎样的发文趋势？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3A6EBF"/>
                </a:solidFill>
                <a:latin typeface="Arial" panose="020B0604020202020204"/>
              </a:defRPr>
            </a:pPr>
            <a: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Fig.1 年度发文趋势图</a:t>
            </a:r>
            <a:br/>
            <a:r>
              <a:t>→ Results §3.1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12064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737360"/>
            <a:ext cx="1097280" cy="4572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6479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5564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8445"/>
                </a:solidFill>
                <a:latin typeface="Arial" panose="020B0604020202020204"/>
              </a:defRPr>
            </a:pPr>
            <a:r>
              <a:t>合作网络与核心力量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Arial" panose="020B0604020202020204"/>
              </a:defRPr>
            </a:pPr>
            <a:r>
              <a:t>机构合作网络呈现怎样的结构？</a:t>
            </a:r>
            <a:br/>
            <a:r>
              <a:t>哪些机构和学者是核心研究力量？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1E8445"/>
                </a:solidFill>
                <a:latin typeface="Arial" panose="020B0604020202020204"/>
              </a:defRPr>
            </a:pPr>
            <a:r>
              <a:t>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Fig.2 机构合作网络</a:t>
            </a:r>
            <a:br/>
            <a:r>
              <a:t>→ Results §3.3, §3.5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512064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1737360"/>
            <a:ext cx="1097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764792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</a:defRPr>
            </a:pPr>
            <a:r>
              <a:t>RQ3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755648"/>
            <a:ext cx="1828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0392B"/>
                </a:solidFill>
                <a:latin typeface="Arial" panose="020B0604020202020204"/>
              </a:defRPr>
            </a:pPr>
            <a:r>
              <a:t>研究热点与前沿趋势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2E"/>
                </a:solidFill>
                <a:latin typeface="Arial" panose="020B0604020202020204"/>
              </a:defRPr>
            </a:pPr>
            <a:r>
              <a:t>研究热点、知识基础和前沿趋势</a:t>
            </a:r>
            <a:br/>
            <a:r>
              <a:t>是什么？经历了怎样的演化？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49039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C0392B"/>
                </a:solidFill>
                <a:latin typeface="Arial" panose="020B0604020202020204"/>
              </a:defRPr>
            </a:pPr>
            <a:r>
              <a:t>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0624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Fig.3 关键词共现 + Table 1</a:t>
            </a:r>
            <a:br/>
            <a:r>
              <a:t>→ Results §3.6-3.7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64922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RQ设计逻辑：宏观描述（RQ1）→ 中观网络（RQ2）→ 微观演化与前沿（RQ3）—— 逐层递进，形成完整分析链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2 / 10</a:t>
            </a:r>
          </a:p>
        </p:txBody>
      </p:sp>
      <p:pic>
        <p:nvPicPr>
          <p:cNvPr id="33" name="图片 32" descr="cocitation_netwo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512185"/>
            <a:ext cx="3562350" cy="1986280"/>
          </a:xfrm>
          <a:prstGeom prst="rect">
            <a:avLst/>
          </a:prstGeom>
        </p:spPr>
      </p:pic>
      <p:pic>
        <p:nvPicPr>
          <p:cNvPr id="34" name="图片 33" descr="institution_colla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080" y="3509645"/>
            <a:ext cx="3541395" cy="1975485"/>
          </a:xfrm>
          <a:prstGeom prst="rect">
            <a:avLst/>
          </a:prstGeom>
        </p:spPr>
      </p:pic>
      <p:pic>
        <p:nvPicPr>
          <p:cNvPr id="35" name="图片 34" descr="keyword_cooccurr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09645"/>
            <a:ext cx="356616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Methods Overview — 从数据采集到可视化分析的10步流程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078992" cy="155448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① 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WoS Core</a:t>
            </a:r>
            <a:br/>
            <a: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2" y="1371600"/>
            <a:ext cx="1078992" cy="155448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② 检索策略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v3.0</a:t>
            </a:r>
            <a:br/>
            <a:r>
              <a:t>Query as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371600"/>
            <a:ext cx="1078992" cy="15544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3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③ 时间范围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2015-2026</a:t>
            </a:r>
            <a:br/>
            <a:r>
              <a:t>(11年)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5" y="1371600"/>
            <a:ext cx="10789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5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④ 纳入/排除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5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Article &amp;</a:t>
            </a:r>
            <a:br/>
            <a:r>
              <a:t>Review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1371600"/>
            <a:ext cx="1078992" cy="1554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⑤ PRISMA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1768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1,001→837</a:t>
            </a:r>
            <a:br/>
            <a:r>
              <a:t>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71600"/>
            <a:ext cx="1078992" cy="155448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⑥ 数据导出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Full Record</a:t>
            </a:r>
            <a:br/>
            <a:r>
              <a:t>+ Cited Ref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1371600"/>
            <a:ext cx="1078992" cy="155448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⑦ 分析工具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1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CiteSpace</a:t>
            </a:r>
            <a:br/>
            <a:r>
              <a:t>6.4.2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1371600"/>
            <a:ext cx="1078992" cy="15544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⑧ 参数设置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3064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g-index</a:t>
            </a:r>
            <a:br/>
            <a:r>
              <a:t>Pathfinder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37776" y="1371600"/>
            <a:ext cx="107899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3496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⑨ 分析维度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7项分析</a:t>
            </a:r>
            <a:br/>
            <a:r>
              <a:t>(31+7)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1828800"/>
            <a:ext cx="137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08208" y="1371600"/>
            <a:ext cx="1078992" cy="155448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53928" y="1417320"/>
            <a:ext cx="9875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⑩ 可复现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53928" y="1828800"/>
            <a:ext cx="9875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E0E8F0"/>
                </a:solidFill>
                <a:latin typeface="Arial" panose="020B0604020202020204"/>
              </a:defRPr>
            </a:pPr>
            <a:r>
              <a:t>GitHub</a:t>
            </a:r>
            <a:br/>
            <a:r>
              <a:t>README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291840"/>
            <a:ext cx="2651760" cy="54864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数据库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A6EBF"/>
                </a:solidFill>
                <a:latin typeface="Arial" panose="020B0604020202020204"/>
              </a:defRPr>
            </a:pPr>
            <a:r>
              <a:t>WoS Core</a:t>
            </a:r>
            <a:br/>
            <a:r>
              <a:t>Collection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83280" y="3291840"/>
            <a:ext cx="2651760" cy="54864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最终文献量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E8445"/>
                </a:solidFill>
                <a:latin typeface="Arial" panose="020B0604020202020204"/>
              </a:defRPr>
            </a:pPr>
            <a:r>
              <a:t>837 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60" y="3291840"/>
            <a:ext cx="2651760" cy="54864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时间跨度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47E2C"/>
                </a:solidFill>
                <a:latin typeface="Arial" panose="020B0604020202020204"/>
              </a:defRPr>
            </a:pPr>
            <a:r>
              <a:t>2015-2026</a:t>
            </a:r>
            <a:br/>
            <a:r>
              <a:t>(11年)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3291840"/>
            <a:ext cx="2651760" cy="1188720"/>
          </a:xfrm>
          <a:prstGeom prst="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291840"/>
            <a:ext cx="26517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F98"/>
                </a:solidFill>
                <a:latin typeface="Arial" panose="020B0604020202020204"/>
              </a:defRPr>
            </a:pPr>
            <a:r>
              <a:t>分析工具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384048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C0392B"/>
                </a:solidFill>
                <a:latin typeface="Arial" panose="020B0604020202020204"/>
              </a:defRPr>
            </a:pPr>
            <a:r>
              <a:t>CiteSpace 6.4.2</a:t>
            </a:r>
            <a:br/>
            <a:r>
              <a:t>+ Python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423"/>
                </a:solidFill>
                <a:latin typeface="Arial" panose="020B0604020202020204"/>
              </a:defRPr>
            </a:pPr>
            <a:r>
              <a:t>三种网络图谱指标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212080"/>
            <a:ext cx="356616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257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A6EBF"/>
                </a:solidFill>
                <a:latin typeface="Arial" panose="020B0604020202020204"/>
              </a:defRPr>
            </a:pPr>
            <a:r>
              <a:t>关键词共现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251节点 / 269边 / 密度0.00866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0" y="5212080"/>
            <a:ext cx="356616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60" y="5257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8445"/>
                </a:solidFill>
                <a:latin typeface="Arial" panose="020B0604020202020204"/>
              </a:defRPr>
            </a:pPr>
            <a:r>
              <a:t>机构合作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187节点 / 213边 / 密度0.0122 / 76分量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5212080"/>
            <a:ext cx="356616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5257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0392B"/>
                </a:solidFill>
                <a:latin typeface="Arial" panose="020B0604020202020204"/>
              </a:defRPr>
            </a:pPr>
            <a:r>
              <a:t>参考文献共被引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577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224节点 / 317边 / 密度0.0127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仓库: github.com/dhq2006/bibliometrics-project-new-  |  Release v1.0  |  Query as Code · 可复现分析 · 参数文档完备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文献计量结果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年度发文趋势与机构合作网络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74320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A6EBF"/>
                </a:solidFill>
                <a:latin typeface="Arial" panose="020B0604020202020204"/>
              </a:defRPr>
            </a:pPr>
            <a:r>
              <a:t>Fig.1  三阶段演化与年度发文趋势</a:t>
            </a: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457200" y="4572000"/>
            <a:ext cx="173736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457200" y="4572000"/>
            <a:ext cx="1737360" cy="4572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548640" y="466344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A6EBF"/>
                </a:solidFill>
                <a:latin typeface="Arial" panose="020B0604020202020204"/>
              </a:defRPr>
            </a:pPr>
            <a:r>
              <a:t>技术萌芽期</a:t>
            </a:r>
          </a:p>
          <a:p>
            <a:pPr algn="ctr">
              <a:defRPr sz="1100" b="1">
                <a:solidFill>
                  <a:srgbClr val="3A6EBF"/>
                </a:solidFill>
                <a:latin typeface="Arial" panose="020B0604020202020204"/>
              </a:defRPr>
            </a:pPr>
            <a:r>
              <a:t>2015-2018</a:t>
            </a:r>
            <a:br/>
            <a:endParaRPr lang="en-US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548640" y="52120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年均 &lt;10篇</a:t>
            </a:r>
            <a:br/>
            <a:r>
              <a:t>GAN/VAE探索</a:t>
            </a:r>
          </a:p>
        </p:txBody>
      </p:sp>
      <p:sp>
        <p:nvSpPr>
          <p:cNvPr id="13" name="Rectangle 12"/>
          <p:cNvSpPr/>
          <p:nvPr>
            <p:custDataLst>
              <p:tags r:id="rId5"/>
            </p:custDataLst>
          </p:nvPr>
        </p:nvSpPr>
        <p:spPr>
          <a:xfrm>
            <a:off x="2377440" y="4572000"/>
            <a:ext cx="173736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2377440" y="4572000"/>
            <a:ext cx="1737360" cy="4572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2468880" y="466344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47E2C"/>
                </a:solidFill>
                <a:latin typeface="Arial" panose="020B0604020202020204"/>
              </a:defRPr>
            </a:pPr>
            <a:r>
              <a:t>缓慢发展期</a:t>
            </a:r>
          </a:p>
          <a:p>
            <a:pPr algn="ctr">
              <a:defRPr sz="1100" b="1">
                <a:solidFill>
                  <a:srgbClr val="D47E2C"/>
                </a:solidFill>
                <a:latin typeface="Arial" panose="020B0604020202020204"/>
              </a:defRPr>
            </a:pPr>
            <a:r>
              <a:t>2019-2021</a:t>
            </a:r>
            <a:br/>
            <a:endParaRPr lang="en-US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468880" y="52120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发文量稳步增长
文本生成+机器翻译</a:t>
            </a:r>
            <a:br/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4297680" y="4572000"/>
            <a:ext cx="173736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4297680" y="4572000"/>
            <a:ext cx="173736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4389120" y="466344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C0392B"/>
                </a:solidFill>
                <a:latin typeface="Arial" panose="020B0604020202020204"/>
              </a:defRPr>
            </a:pPr>
            <a:r>
              <a:t>爆发增长期</a:t>
            </a:r>
          </a:p>
          <a:p>
            <a:pPr algn="ctr">
              <a:defRPr sz="1100" b="1">
                <a:solidFill>
                  <a:srgbClr val="C0392B"/>
                </a:solidFill>
                <a:latin typeface="Arial" panose="020B0604020202020204"/>
              </a:defRPr>
            </a:pPr>
            <a:r>
              <a:t>2022-2026</a:t>
            </a:r>
            <a:br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4389120" y="521208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同比增长 &gt;300%</a:t>
            </a:r>
            <a:br/>
            <a:r>
              <a:t>ChatGPT驱动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5669280" cy="2743200"/>
          </a:xfrm>
          <a:prstGeom prst="rect">
            <a:avLst/>
          </a:prstGeom>
          <a:solidFill>
            <a:srgbClr val="F0F2F5"/>
          </a:solidFill>
          <a:ln w="1270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instituti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417320"/>
            <a:ext cx="5303520" cy="2468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17920" y="411480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E8445"/>
                </a:solidFill>
                <a:latin typeface="Arial" panose="020B0604020202020204"/>
              </a:defRPr>
            </a:pPr>
            <a:r>
              <a:t>Fig.2  Top10核心机构发文量及国家分布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2743200" cy="128016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🔴  中国机构全球领先：Top10中占4席（40%）</a:t>
            </a:r>
            <a:br/>
            <a:r>
              <a:t>香港大学16篇位居全球第1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572000"/>
            <a:ext cx="2743200" cy="128016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66344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🟡  澳大利亚3所入榜，美国2所</a:t>
            </a:r>
            <a:br/>
            <a:r>
              <a:t>形成亚太-北美-大洋洲三极格局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144768"/>
            <a:ext cx="11247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关键洞察：中国机构在"量"（发文量4席Top10）与"质"（中心性并列全球第1）两个维度均处于全球领先  |  但网络整体较松散（76个连通分量），国际合作有待加强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4 / 10</a:t>
            </a:r>
          </a:p>
        </p:txBody>
      </p:sp>
      <p:pic>
        <p:nvPicPr>
          <p:cNvPr id="31" name="图片 30" descr="annual_tren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1379855"/>
            <a:ext cx="5301615" cy="2633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文献计量结果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关键词共现分析与知识基础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926080"/>
          </a:xfrm>
          <a:prstGeom prst="rect">
            <a:avLst/>
          </a:prstGeom>
          <a:solidFill>
            <a:srgbClr val="F0F2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keyword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0352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29768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C0392B"/>
                </a:solidFill>
                <a:latin typeface="Arial" panose="020B0604020202020204"/>
              </a:defRPr>
            </a:pPr>
            <a:r>
              <a:t>Fig.3  关键词频次（左）与中介中心性（右）Top10对比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F1423"/>
                </a:solidFill>
                <a:latin typeface="Arial" panose="020B0604020202020204"/>
              </a:defRPr>
            </a:pPr>
            <a:r>
              <a:t>核心发现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AI (251) + Generative AI (233) = 两大超级节点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79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"education"中心性0.51 → 唯一超0.5的核心枢纽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Higher Education (146) → 最热应用场景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80759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• Academic Integrity (35) → 最受关注伦理议题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669280" cy="5212080"/>
          </a:xfrm>
          <a:prstGeom prst="rect">
            <a:avLst/>
          </a:prstGeom>
          <a:solidFill>
            <a:srgbClr val="F0F2F5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F1423"/>
                </a:solidFill>
                <a:latin typeface="Arial" panose="020B0604020202020204"/>
              </a:defRPr>
            </a:pPr>
            <a:r>
              <a:t>Table 1  Top10核心指标综合汇总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11887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920240"/>
            <a:ext cx="14173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96596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第1名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920240"/>
            <a:ext cx="14173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96596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第2名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0" y="1920240"/>
            <a:ext cx="1417320" cy="658368"/>
          </a:xfrm>
          <a:prstGeom prst="rect">
            <a:avLst/>
          </a:prstGeom>
          <a:solidFill>
            <a:srgbClr val="0F1423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60" y="196596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Arial" panose="020B0604020202020204"/>
              </a:defRPr>
            </a:pPr>
            <a:r>
              <a:t>第3名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33472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679191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机构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633472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67919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香港大学</a:t>
            </a:r>
            <a:br/>
            <a:r>
              <a:t>(16篇)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633472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267919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Arizona State</a:t>
            </a:r>
            <a:br/>
            <a:r>
              <a:t>(15篇)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2633472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267919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EdUHK</a:t>
            </a:r>
            <a:br/>
            <a:r>
              <a:t>(14篇)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346704"/>
            <a:ext cx="11887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392424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期刊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346704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392424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Educ &amp; Info Tech</a:t>
            </a:r>
            <a:br/>
            <a:r>
              <a:t>(55篇)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346704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3392424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Education Sci.</a:t>
            </a:r>
            <a:br/>
            <a:r>
              <a:t>(42篇)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64240" y="3346704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60" y="3392424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TechTrends</a:t>
            </a:r>
            <a:br/>
            <a:r>
              <a:t>(30篇)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059935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105655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作者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059935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4105655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Bozkurt, A</a:t>
            </a:r>
            <a:br/>
            <a:r>
              <a:t>(3篇)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4059935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4105655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Chan, CKY</a:t>
            </a:r>
            <a:br/>
            <a:r>
              <a:t>(3篇)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4059935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09960" y="4105655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Humble, N</a:t>
            </a:r>
            <a:br/>
            <a:r>
              <a:t>(2篇)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773168"/>
            <a:ext cx="11887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818888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关键词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4773168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4818888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AI</a:t>
            </a:r>
            <a:br/>
            <a:r>
              <a:t>(251次)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09760" y="4773168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4818888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Generative AI</a:t>
            </a:r>
            <a:br/>
            <a:r>
              <a:t>(233次)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64240" y="4773168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09960" y="4818888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Higher Edu.</a:t>
            </a:r>
            <a:br/>
            <a:r>
              <a:t>(146次)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5486400"/>
            <a:ext cx="11887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532120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中心性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5486400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01000" y="553212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Education</a:t>
            </a:r>
            <a:br/>
            <a:r>
              <a:t>(0.51)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5486400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5480" y="553212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AI</a:t>
            </a:r>
            <a:br/>
            <a:r>
              <a:t>(0.45)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64240" y="5486400"/>
            <a:ext cx="14173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09960" y="5532120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Higher Edu.</a:t>
            </a:r>
            <a:br/>
            <a:r>
              <a:t>(0.25)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6199631"/>
            <a:ext cx="11887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6245351"/>
            <a:ext cx="10972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高被引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79" y="6199631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624535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Kasneci 2023</a:t>
            </a:r>
            <a:br/>
            <a:r>
              <a:t>(146次)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09760" y="6199631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624535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Cotton 2024</a:t>
            </a:r>
            <a:br/>
            <a:r>
              <a:t>(107次)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064240" y="6199631"/>
            <a:ext cx="1417320" cy="658368"/>
          </a:xfrm>
          <a:prstGeom prst="rect">
            <a:avLst/>
          </a:prstGeom>
          <a:solidFill>
            <a:srgbClr val="F0F2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109960" y="6245351"/>
            <a:ext cx="132588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Jurgen 2023</a:t>
            </a:r>
            <a:br/>
            <a:r>
              <a:t>(104次)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309360"/>
            <a:ext cx="5669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50" b="0">
                <a:solidFill>
                  <a:srgbClr val="8A8F98"/>
                </a:solidFill>
                <a:latin typeface="Arial" panose="020B0604020202020204"/>
              </a:defRPr>
            </a:pPr>
            <a:r>
              <a:t>关键发现：教育期刊垄断（Top10占9席）| 作者长尾分布（最高仅3篇）</a:t>
            </a:r>
            <a:br/>
            <a:r>
              <a:t>知识基础"超强时间集中性"——全部核心文献来自2023-2024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讨论：CER论证框架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Claim → Evidence（Top1） → Reasoning —— 数据驱动的三段论证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03320" cy="5303520"/>
          </a:xfrm>
          <a:prstGeom prst="rect">
            <a:avLst/>
          </a:prstGeom>
          <a:solidFill>
            <a:srgbClr val="F0F2F5"/>
          </a:solidFill>
          <a:ln w="190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03320" cy="4572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RQ1: 发文趋势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A6EBF"/>
                </a:solidFill>
                <a:latin typeface="Arial" panose="020B0604020202020204"/>
              </a:defRPr>
            </a:pPr>
            <a:r>
              <a:t>▎CLAIM  核心论断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Arial" panose="020B0604020202020204"/>
              </a:defRPr>
            </a:pPr>
            <a:r>
              <a:t>ChatGPT是触发AIGC人文社科</a:t>
            </a:r>
            <a:br/>
            <a:r>
              <a:t>研究爆发式增长的最关键转折点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5204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▎EVIDENCE  Top1最强证据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794760"/>
            <a:ext cx="342900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M1报告: 2023年发文量同比增长300%以上</a:t>
            </a:r>
            <a:br/>
          </a:p>
        </p:txBody>
      </p:sp>
      <p:sp>
        <p:nvSpPr>
          <p:cNvPr id="15" name="TextBox 14"/>
          <p:cNvSpPr txBox="1"/>
          <p:nvPr/>
        </p:nvSpPr>
        <p:spPr>
          <a:xfrm>
            <a:off x="1920240" y="47548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02920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44AD"/>
                </a:solidFill>
                <a:latin typeface="Arial" panose="020B0604020202020204"/>
              </a:defRPr>
            </a:pPr>
            <a:r>
              <a:t>▎REASONING  逻辑推理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303520"/>
            <a:ext cx="3429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技术进步（ChatGPT NLP革命）→</a:t>
            </a:r>
            <a:br/>
            <a:r>
              <a:t>降低使用门槛 → 社会关注+学术产出</a:t>
            </a:r>
            <a:br/>
            <a:r>
              <a:t>联动效应 → 与技术采用生命周期一致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280160"/>
            <a:ext cx="3703320" cy="5303520"/>
          </a:xfrm>
          <a:prstGeom prst="rect">
            <a:avLst/>
          </a:prstGeom>
          <a:solidFill>
            <a:srgbClr val="F0F2F5"/>
          </a:solidFill>
          <a:ln w="190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280160"/>
            <a:ext cx="3703320" cy="4572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RQ2: 核心力量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9202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1E8445"/>
                </a:solidFill>
                <a:latin typeface="Arial" panose="020B0604020202020204"/>
              </a:defRPr>
            </a:pPr>
            <a:r>
              <a:t>▎CLAIM  核心论断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194560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Arial" panose="020B0604020202020204"/>
              </a:defRPr>
            </a:pPr>
            <a:r>
              <a:t>中国已成为该领域全球领先的</a:t>
            </a:r>
            <a:br/>
            <a:r>
              <a:t>研究力量，量质双优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204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▎EVIDENCE  Top1最强证据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794760"/>
            <a:ext cx="342900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88620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Top10机构中国占4席（40%）</a:t>
            </a:r>
            <a:br/>
            <a:r>
              <a:t>中心性并列全球第1</a:t>
            </a:r>
            <a:br/>
            <a:r>
              <a:t>港大16篇位居全球榜首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7548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02920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44AD"/>
                </a:solidFill>
                <a:latin typeface="Arial" panose="020B0604020202020204"/>
              </a:defRPr>
            </a:pPr>
            <a:r>
              <a:t>▎REASONING  逻辑推理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303520"/>
            <a:ext cx="3429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政策支持（2017新一代AI规划）</a:t>
            </a:r>
            <a:br/>
            <a:r>
              <a:t>+ 庞大市场需求 + 香港国际化</a:t>
            </a:r>
            <a:br/>
            <a:r>
              <a:t>平台 → 三位一体战略优势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280160"/>
            <a:ext cx="3703320" cy="5303520"/>
          </a:xfrm>
          <a:prstGeom prst="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280160"/>
            <a:ext cx="37033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RQ3: 前沿趋势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19202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▎CLAIM  核心论断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194560"/>
            <a:ext cx="3429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Arial" panose="020B0604020202020204"/>
              </a:defRPr>
            </a:pPr>
            <a:r>
              <a:t>研究正从"技术采纳"阶段</a:t>
            </a:r>
            <a:br/>
            <a:r>
              <a:t>转向"社会影响评估"阶段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52044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C0392B"/>
                </a:solidFill>
                <a:latin typeface="Arial" panose="020B0604020202020204"/>
              </a:defRPr>
            </a:pPr>
            <a:r>
              <a:t>▎EVIDENCE  Top1最强证据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794760"/>
            <a:ext cx="3429000" cy="914400"/>
          </a:xfrm>
          <a:prstGeom prst="rect">
            <a:avLst/>
          </a:prstGeom>
          <a:solidFill>
            <a:srgbClr val="FDED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88620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education中心性0.51全网络最高</a:t>
            </a:r>
            <a:br/>
            <a:r>
              <a:t>academic integrity频次35</a:t>
            </a:r>
            <a:br/>
            <a:r>
              <a:t>+ 2026年最新突现词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7548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8962E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5029200"/>
            <a:ext cx="3429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8E44AD"/>
                </a:solidFill>
                <a:latin typeface="Arial" panose="020B0604020202020204"/>
              </a:defRPr>
            </a:pPr>
            <a:r>
              <a:t>▎REASONING  逻辑推理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303520"/>
            <a:ext cx="3429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符合STS技术采纳生命周期：</a:t>
            </a:r>
            <a:br/>
            <a:r>
              <a:t>技术推动→应用扩散→社会反思→</a:t>
            </a:r>
            <a:br/>
            <a:r>
              <a:t>规范治理（当前处于社会反思期）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研究发现 · 贡献 · 局限 · 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03320" cy="50292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主要发现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3703320" cy="4754880"/>
          </a:xfrm>
          <a:prstGeom prst="rect">
            <a:avLst/>
          </a:prstGeom>
          <a:solidFill>
            <a:srgbClr val="F0F2F5"/>
          </a:solidFill>
          <a:ln w="63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三阶段演化：萌芽(15-18)</a:t>
            </a:r>
            <a:br/>
            <a:r>
              <a:t>→ 发展(19-21) → 爆发(22-26)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ChatGPT是最关键转折点</a:t>
            </a:r>
            <a:br/>
            <a:r>
              <a:t>(2023年同比增长 &gt;300%)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中国机构全方位领先：</a:t>
            </a:r>
            <a:br/>
            <a:r>
              <a:t>发文量4席Top10 + 中心性并列第1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教育是绝对主导场景：</a:t>
            </a:r>
            <a:br/>
            <a:r>
              <a:t>"education"中心性0.51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知识基础"超强时间集中性"：</a:t>
            </a:r>
            <a:br/>
            <a:r>
              <a:t>所有核心文献来自2023-2024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80160"/>
            <a:ext cx="3703320" cy="50292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研究贡献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783080"/>
            <a:ext cx="3703320" cy="4754880"/>
          </a:xfrm>
          <a:prstGeom prst="rect">
            <a:avLst/>
          </a:prstGeom>
          <a:solidFill>
            <a:srgbClr val="F0F2F5"/>
          </a:solidFill>
          <a:ln w="63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96596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方法论：首次CiteSpace系统</a:t>
            </a:r>
            <a:br/>
            <a:r>
              <a:t>应用于AIGC人文社科交叉领域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92608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实证：837篇文献全景量化分析</a:t>
            </a:r>
            <a:br/>
            <a:r>
              <a:t>"31+7+7"分析框架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8620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实践：核心期刊列表/里程碑</a:t>
            </a:r>
            <a:br/>
            <a:r>
              <a:t>文献/突现前沿 ≡ 学术导航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84632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验证：文献计量学方法在新兴</a:t>
            </a:r>
            <a:br/>
            <a:r>
              <a:t>交叉领域的适用性和有效性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7033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307592"/>
            <a:ext cx="3429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局限与展望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83080"/>
            <a:ext cx="3703320" cy="4754880"/>
          </a:xfrm>
          <a:prstGeom prst="rect">
            <a:avLst/>
          </a:prstGeom>
          <a:solidFill>
            <a:srgbClr val="F0F2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局限：仅WoS（缺Scopus/CNKI）</a:t>
            </a:r>
            <a:br/>
            <a:r>
              <a:t>免费版节点限制 | 时效性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2608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未来 → 多数据库交叉验证</a:t>
            </a:r>
            <a:br/>
            <a:r>
              <a:t>纳入中文文献分析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8620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未来 → 时序追踪(2026年后)</a:t>
            </a:r>
            <a:br/>
            <a:r>
              <a:t>验证"超强集中性"演化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46320"/>
            <a:ext cx="3337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Arial" panose="020B0604020202020204"/>
              </a:defRPr>
            </a:pPr>
            <a:r>
              <a:t>• 未来 → 质性内容分析整合</a:t>
            </a:r>
            <a:br/>
            <a:r>
              <a:t>非教育领域(文学/历史/哲学)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GitHub 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项目管理 · 可复现性 · 开源实践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A6EBF"/>
                </a:solidFill>
                <a:latin typeface="Arial" panose="020B0604020202020204"/>
              </a:defRPr>
            </a:pPr>
            <a:r>
              <a:t>🔗  github.com/dhq2006/bibliometrics-project-new-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4864" cy="13716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A6EBF"/>
                </a:solidFill>
                <a:latin typeface="Arial" panose="020B0604020202020204"/>
              </a:defRPr>
            </a:pPr>
            <a:r>
              <a:t>📁  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原始+清洗数据</a:t>
            </a:r>
            <a:br/>
            <a:r>
              <a:t>README + 字段字典</a:t>
            </a:r>
            <a:br/>
            <a:r>
              <a:t>screening_records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54864" cy="13716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8445"/>
                </a:solidFill>
                <a:latin typeface="Arial" panose="020B0604020202020204"/>
              </a:defRPr>
            </a:pPr>
            <a:r>
              <a:t>📁  src/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Python代码</a:t>
            </a:r>
            <a:br/>
            <a:r>
              <a:t>clean_data.py</a:t>
            </a:r>
            <a:br/>
            <a:r>
              <a:t>convert_to_citespace.py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54864" cy="137160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7E2C"/>
                </a:solidFill>
                <a:latin typeface="Arial" panose="020B0604020202020204"/>
              </a:defRPr>
            </a:pPr>
            <a:r>
              <a:t>📁  config/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query.yaml</a:t>
            </a:r>
            <a:br/>
            <a:r>
              <a:t>(Query as Code v3.0)</a:t>
            </a:r>
            <a:br/>
            <a:r>
              <a:t>synonyms.yaml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7472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7472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66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0392B"/>
                </a:solidFill>
                <a:latin typeface="Arial" panose="020B0604020202020204"/>
              </a:defRPr>
            </a:pPr>
            <a:r>
              <a:t>📁  outputs/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figures/ (≥300dpi)</a:t>
            </a:r>
            <a:br/>
            <a:r>
              <a:t>tables/ (Top10 CSV)</a:t>
            </a:r>
            <a:br/>
            <a:r>
              <a:t>31全部图表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47472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474720"/>
            <a:ext cx="54864" cy="13716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566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A6EBF"/>
                </a:solidFill>
                <a:latin typeface="Arial" panose="020B0604020202020204"/>
              </a:defRPr>
            </a:pPr>
            <a:r>
              <a:t>📁  reports/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77639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M1/M2里程碑报告</a:t>
            </a:r>
            <a:br/>
            <a:r>
              <a:t>citespace_params</a:t>
            </a:r>
            <a:br/>
            <a:r>
              <a:t>数据质量报告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47472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474720"/>
            <a:ext cx="54864" cy="137160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566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8445"/>
                </a:solidFill>
                <a:latin typeface="Arial" panose="020B0604020202020204"/>
              </a:defRPr>
            </a:pPr>
            <a:r>
              <a:t>📁  paper/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77639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课程论文</a:t>
            </a:r>
            <a:br/>
            <a:r>
              <a:t>.docx + .pdf</a:t>
            </a:r>
            <a:br/>
            <a:r>
              <a:t>IMRaD完整结构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2920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029200"/>
            <a:ext cx="54864" cy="137160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47E2C"/>
                </a:solidFill>
                <a:latin typeface="Arial" panose="020B0604020202020204"/>
              </a:defRPr>
            </a:pPr>
            <a:r>
              <a:t>📁  presentation/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3212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课程PPT</a:t>
            </a:r>
            <a:br/>
            <a:r>
              <a:t>.pptx + .pdf</a:t>
            </a:r>
            <a:br/>
            <a:r>
              <a:t>9页完整汇报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502920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120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0392B"/>
                </a:solidFill>
                <a:latin typeface="Arial" panose="020B0604020202020204"/>
              </a:defRPr>
            </a:pPr>
            <a:r>
              <a:t>📁  docs/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53212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ai_usage.md</a:t>
            </a:r>
            <a:br/>
            <a:r>
              <a:t>AI使用记录+反思</a:t>
            </a:r>
            <a:br/>
            <a:r>
              <a:t>5工具+3Prompt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029200"/>
            <a:ext cx="3703320" cy="1371600"/>
          </a:xfrm>
          <a:prstGeom prst="rect">
            <a:avLst/>
          </a:prstGeom>
          <a:solidFill>
            <a:srgbClr val="F0F2F5"/>
          </a:solidFill>
          <a:ln w="1270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5029200"/>
            <a:ext cx="54864" cy="137160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5120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A6EBF"/>
                </a:solidFill>
                <a:latin typeface="Arial" panose="020B0604020202020204"/>
              </a:defRPr>
            </a:pPr>
            <a:r>
              <a:t>📁  reflection/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53212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reflection.md</a:t>
            </a:r>
            <a:br/>
            <a:r>
              <a:t>课程反思报告</a:t>
            </a:r>
            <a:br/>
            <a:r>
              <a:t>5人团队分工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✅ 15+次有意义的commit  |  ✅ 9目录完整结构  |  ✅ Release v1.0  |  ✅ Query as Code · 可复现分析 · README完备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Arial" panose="020B0604020202020204"/>
              </a:defRPr>
            </a:pPr>
            <a:r>
              <a:t>AI使用与反思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AI Tools · Prompts · Efficiency ·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F1423"/>
                </a:solidFill>
                <a:latin typeface="Arial" panose="020B0604020202020204"/>
              </a:defRPr>
            </a:pPr>
            <a:r>
              <a:t>AI工具使用清单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3A6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45720" cy="731520"/>
          </a:xfrm>
          <a:prstGeom prst="rect">
            <a:avLst/>
          </a:prstGeom>
          <a:solidFill>
            <a:srgbClr val="3A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3A6EBF"/>
                </a:solidFill>
                <a:latin typeface="Arial" panose="020B0604020202020204"/>
              </a:defRPr>
            </a:pPr>
            <a:r>
              <a:t>Claude (Anthropic)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论文结构设计 · 内容撰写</a:t>
            </a:r>
            <a:br/>
            <a:r>
              <a:t>文献综述 · 中英翻译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30352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1E8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45720" cy="731520"/>
          </a:xfrm>
          <a:prstGeom prst="rect">
            <a:avLst/>
          </a:prstGeom>
          <a:solidFill>
            <a:srgbClr val="1E8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7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8445"/>
                </a:solidFill>
                <a:latin typeface="Arial" panose="020B0604020202020204"/>
              </a:defRPr>
            </a:pPr>
            <a:r>
              <a:t>ChatGPT (GPT-4o)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检索式优化 · 关键词扩展</a:t>
            </a:r>
            <a:br/>
            <a:r>
              <a:t>文献筛选思路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530352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D47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45720" cy="731520"/>
          </a:xfrm>
          <a:prstGeom prst="rect">
            <a:avLst/>
          </a:prstGeom>
          <a:solidFill>
            <a:srgbClr val="D4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20439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47E2C"/>
                </a:solidFill>
                <a:latin typeface="Arial" panose="020B0604020202020204"/>
              </a:defRPr>
            </a:pPr>
            <a:r>
              <a:t>GitHub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Python代码辅助</a:t>
            </a:r>
            <a:br/>
            <a:r>
              <a:t>(~30%代码行自动补全)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5303520" cy="731520"/>
          </a:xfrm>
          <a:prstGeom prst="rect">
            <a:avLst/>
          </a:prstGeom>
          <a:solidFill>
            <a:srgbClr val="F0F2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4572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0392B"/>
                </a:solidFill>
                <a:latin typeface="Arial" panose="020B0604020202020204"/>
              </a:defRPr>
            </a:pPr>
            <a:r>
              <a:t>DeepL + Grammarly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A1A2E"/>
                </a:solidFill>
                <a:latin typeface="Arial" panose="020B0604020202020204"/>
              </a:defRPr>
            </a:pPr>
            <a:r>
              <a:t>非英文摘要翻译</a:t>
            </a:r>
            <a:br/>
            <a:r>
              <a:t>语法检查与润色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F1423"/>
                </a:solidFill>
                <a:latin typeface="Arial" panose="020B0604020202020204"/>
              </a:defRPr>
            </a:pPr>
            <a:r>
              <a:t>关键反思与原则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r>
              <a:t>AI是加速器而非替代品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031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核心学术贡献（数据解读、结论提炼）由人类完成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r>
              <a:t>Prompt质量 = AI产出质量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清晰问题 + 充分背景 + 明确输出要求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08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108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r>
              <a:t>透明标注AI辅助内容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83279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论文/代码/PPT中AI生成部分均已标注 → 学术诚信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49039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74903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r>
              <a:t>多工具协同效果更佳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023359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Claude + ChatGPT + Copilot + DeepL + Grammarly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891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r>
              <a:t>最有价值场景Top1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6634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检索式优化 → 效率↑3倍，相关性70%→95%+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29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⚠️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029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r>
              <a:t>AI帮助最小的场景</a:t>
            </a:r>
          </a:p>
          <a:p>
            <a:pPr algn="l">
              <a:defRPr sz="1100" b="1">
                <a:solidFill>
                  <a:srgbClr val="0F1423"/>
                </a:solidFill>
                <a:latin typeface="Arial" panose="020B0604020202020204"/>
              </a:defRPr>
            </a:pPr>
            <a:endParaRPr lang="zh-CN" altLang="en-US"/>
          </a:p>
        </p:txBody>
      </p:sp>
      <p:sp>
        <p:nvSpPr>
          <p:cNvPr id="42" name="Rectangle 41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9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349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F1423"/>
                </a:solidFill>
                <a:latin typeface="Arial" panose="020B0604020202020204"/>
              </a:defRPr>
            </a:pPr>
            <a:r>
              <a:t>AI效率评估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1A2E"/>
                </a:solidFill>
                <a:latin typeface="Arial" panose="020B0604020202020204"/>
              </a:defRPr>
            </a:pPr>
            <a:r>
              <a:t>预估节省工时：15-20小时（占总工时15-20%）  |  分环节：检索式4h + 论文结构5h + 参数理解3h + 代码2h + 润色3h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20204"/>
              </a:defRPr>
            </a:pPr>
            <a:r>
              <a:t>核心原则：透明原则 · 人类责任原则 · 原创性保护原则 · 批判性原则  ——  所有数据分析结果的解读和结论提炼均由人类独立完成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9 /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3035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CiteSpace实际操作 · 数据深度解读 · PPT视觉设计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Arial" panose="020B0604020202020204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2743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8A8F98"/>
                </a:solidFill>
                <a:latin typeface="Arial" panose="020B0604020202020204"/>
              </a:defRPr>
            </a:pPr>
            <a:r>
              <a:t>Thank You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8962E"/>
                </a:solidFill>
                <a:latin typeface="Arial" panose="020B0604020202020204"/>
              </a:defRPr>
            </a:pPr>
            <a:r>
              <a:t>生成式人工智能（AIGC）在人文社科领域的文献计量分析（2015-2026）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12191695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A8F98"/>
                </a:solidFill>
                <a:latin typeface="Arial" panose="020B0604020202020204"/>
              </a:defRPr>
            </a:pPr>
            <a:r>
              <a:t>董恒清 · 温明辉 · 杨永康 · 马子雄 · 职明东  |  《文献计量学》课程  |  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05560"/>
                </a:solidFill>
                <a:latin typeface="Arial" panose="020B0604020202020204"/>
              </a:defRPr>
            </a:pPr>
            <a:r>
              <a:t>github.com/dhq2006/bibliometrics-project-new-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A8F98"/>
                </a:solidFill>
                <a:latin typeface="Arial" panose="020B0604020202020204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2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3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4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5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6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7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8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9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10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11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ags/tag12.xml><?xml version="1.0" encoding="utf-8"?>
<p:tagLst xmlns:p="http://schemas.openxmlformats.org/presentationml/2006/main">
  <p:tag name="KSO_WM_DIAGRAM_VIRTUALLY_FRAME" val="{&quot;height&quot;:100.8,&quot;left&quot;:36,&quot;top&quot;:360,&quot;width&quot;:43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4467</Words>
  <Application>WPS 演示</Application>
  <PresentationFormat>On-screen Show (4:3)</PresentationFormat>
  <Paragraphs>484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温明辉0312</cp:lastModifiedBy>
  <cp:revision>7</cp:revision>
  <dcterms:created xsi:type="dcterms:W3CDTF">2013-01-27T09:14:00Z</dcterms:created>
  <dcterms:modified xsi:type="dcterms:W3CDTF">2026-06-04T15:51:18Z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F79CFE99C46545A7BA84DDC8DE49E292_12</vt:lpwstr>
  </property>
  <property fmtid="{D5CDD505-2E9C-101B-9397-08002B2CF9AE}" pid="3" name="KSOProductBuildVer">
    <vt:lpwstr>2052-12.1.0.26375</vt:lpwstr>
  </property>
</Properties>
</file>